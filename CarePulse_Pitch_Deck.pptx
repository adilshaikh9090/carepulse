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Hook: "We built an AI system that notices when a person is struggling — before they burn out — and automatically offers them supportive next steps, confidentially." Visual: landing page hero (radar + glass card).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gap: organizations collect almost no continuous, low-friction wellbeing signal — and even when they do, there is no safe process to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"This isn’t surveillance. It’s an early-warning radar plus a support dispatcher — with the person, not the manager, at the center."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accounts: WELFARE-01 and ADMIN-01, password demo1234.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clean separation: frontend never talks to the model directly; the model can be replaced without touching either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scale: SQLite swaps to Postgres via a single SQLAlchemy URL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friction removal: the entire loop takes less than two minutes per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RandomForest: strong tabular baseline, handles non-linear interactions, and gives probabilities we turn into calibrated-feeling 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care about black-box concerns — this is our answer. Every number on screen has a visible reason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Factor families: Recent Workload Change / Overtime Frequency map to Workload; Duty Hours / Rest Break Quality map to Fatigue. Every step ships with sub-action checklist, timeframe, resource content, and tone guardrails: voluntary, confidential, never disciplinary. Follow-up: 7-day cadence with idempotent reminders.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60-second wow path: click a card, watch the pipeline animate, land on a fully explained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"Human-in-the-loop is mandatory: the AI flags, a human decides, and every decision is auditable."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 plainly: "We designed the system we’d want used on us." This slide wins ethics-heavy judging rubrics.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Toggle themes live during the demo — same components, zero rewrites.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feature was shipped with its safety net — the smoke suite ran after each change in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vertical matching your judges — defense, healthcare, or BPO/call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order signals priorities: forecasting and mobile reach first, integrations second, model sophistication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closing line slowly, then switch to the browser and run the demo path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hidden during the pitch; jump here only when judges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74175" y="-1371600"/>
            <a:ext cx="4206240" cy="4206240"/>
          </a:xfrm>
          <a:prstGeom prst="ellipse">
            <a:avLst/>
          </a:prstGeom>
          <a:noFill/>
          <a:ln w="1587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88575" y="-457200"/>
            <a:ext cx="2377440" cy="2377440"/>
          </a:xfrm>
          <a:prstGeom prst="ellipse">
            <a:avLst/>
          </a:prstGeom>
          <a:noFill/>
          <a:ln w="12700">
            <a:solidFill>
              <a:srgbClr val="1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30991" y="603504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4255" y="530352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34D399"/>
                </a:solidFill>
                <a:latin typeface="Segoe UI"/>
              </a:rPr>
              <a:t>SYSTEM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8BDF8"/>
                </a:solidFill>
                <a:latin typeface="Segoe UI"/>
              </a:rPr>
              <a:t>HACKATHON PROTOTYPE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1" i="0">
                <a:solidFill>
                  <a:srgbClr val="F8FAFC"/>
                </a:solidFill>
                <a:latin typeface="Segoe UI"/>
              </a:rPr>
              <a:t>PersonnelAI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8778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93A4BC"/>
                </a:solidFill>
                <a:latin typeface="Segoe UI"/>
              </a:rPr>
              <a:t>AI-Based Predictive Personnel Stress &amp; Welfare Monitoring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04164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2793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DBE4F0"/>
                </a:solidFill>
                <a:latin typeface="Segoe UI"/>
              </a:rPr>
              <a:t>“From detecting risk… to helping people take the next step.”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983894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React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1406" y="5897880"/>
            <a:ext cx="908913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1" y="5897880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RandomForest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73320" y="5897880"/>
            <a:ext cx="1658721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Privacy-by-Design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Burnout is invisible until it breaks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Detected too late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after performance drops or people quit.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Periodic, manual, subjective checks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— easy to fake (“I’m fine”).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Stigma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stops honest self-reporting, especially in uniformed / shift-based workforces.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No early-warning signal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and no structured way for welfare teams to offer help.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Result: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preventable attrition, sick leave, low morale, degraded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30368"/>
            <a:ext cx="11185855" cy="566928"/>
          </a:xfrm>
          <a:prstGeom prst="roundRect">
            <a:avLst>
              <a:gd name="adj" fmla="val 18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ctr"/>
            <a:r>
              <a:rPr sz="1400" b="1" i="0">
                <a:solidFill>
                  <a:srgbClr val="FB7185"/>
                </a:solidFill>
                <a:latin typeface="Segoe UI"/>
              </a:rPr>
              <a:t>Organizations react months late because nothing watches between annual surveys.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30368"/>
            <a:ext cx="40640" cy="566928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A welfare intelligence platform,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Daily micro check-in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under 2 minutes, 8 simple indicators.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AI risk prediction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RandomForest scores every check-in instantly.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Explainable results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every score shows which factors drove it, and why.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Automated support plan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tiered, practical, voluntary actions from the top factors.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Officer console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anonymized early warnings so humans stay in charge.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Confidential by design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individuals are never exposed; only aggregates travel upward.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983894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Check-in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1406" y="5897880"/>
            <a:ext cx="1358798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60A5FA"/>
                </a:solidFill>
                <a:latin typeface="Segoe UI"/>
              </a:rPr>
              <a:t>AI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4796" y="5897880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FBBF24"/>
                </a:solidFill>
                <a:latin typeface="Segoe UI"/>
              </a:rPr>
              <a:t>Contributing Factors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3052" y="5897880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4D399"/>
                </a:solidFill>
                <a:latin typeface="Segoe UI"/>
              </a:rPr>
              <a:t>Support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FEATURE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What ships in the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10047" cy="3977639"/>
          </a:xfrm>
          <a:prstGeom prst="roundRect">
            <a:avLst>
              <a:gd name="adj" fmla="val 9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10047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4897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8BDF8"/>
                </a:solidFill>
                <a:latin typeface="Segoe UI"/>
              </a:rPr>
              <a:t>FOR THE INDIVIDUAL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489798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Daily check-in — 8 indicators + free-text note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Instant risk indicator with confidence %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Ranked contributing factors + narrative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Welfare support plan with tiered actions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Mark as Done · Remind Me Later · View Support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Follow-up cadence + Schedule Reminder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Wellness library · trends dashboard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Consent toggles · full data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691640"/>
            <a:ext cx="5410047" cy="3977639"/>
          </a:xfrm>
          <a:prstGeom prst="roundRect">
            <a:avLst>
              <a:gd name="adj" fmla="val 9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1691640"/>
            <a:ext cx="5410047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4759" y="1901952"/>
            <a:ext cx="4897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0A5FA"/>
                </a:solidFill>
                <a:latin typeface="Segoe UI"/>
              </a:rPr>
              <a:t>FOR THE ORGANIZATION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2359152"/>
            <a:ext cx="489798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Early Warning Center with severity triage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Alert review → intervention workflow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Interventions tracked to completion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Anonymized unit analytics + reports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Broadcast notifications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Audit log with search (admin)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Role-based access control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Scenario demo mode — zero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Clean layers, swappable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1185855" cy="2377440"/>
          </a:xfrm>
          <a:prstGeom prst="roundRect">
            <a:avLst>
              <a:gd name="adj" fmla="val 7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5433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DBE4F0"/>
                </a:solidFill>
                <a:latin typeface="Consolas"/>
              </a:rPr>
              <a:t>React 18 + Vite SPA   (TypeScript · Tailwind · framer-motion · Recharts)</a:t>
            </a:r>
          </a:p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5B6B85"/>
                </a:solidFill>
                <a:latin typeface="Consolas"/>
              </a:rPr>
              <a:t>↓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DBE4F0"/>
                </a:solidFill>
                <a:latin typeface="Consolas"/>
              </a:rPr>
              <a:t>FastAPI   —   routers: auth · personnel · ai · admin   ·   JWT · Pydantic v2</a:t>
            </a:r>
          </a:p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5B6B85"/>
                </a:solidFill>
                <a:latin typeface="Consolas"/>
              </a:rPr>
              <a:t>↓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DBE4F0"/>
                </a:solidFill>
                <a:latin typeface="Consolas"/>
              </a:rPr>
              <a:t>Service layer   —   ML engine wrapper · support-plan rule engine · notifications</a:t>
            </a:r>
          </a:p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5B6B85"/>
                </a:solidFill>
                <a:latin typeface="Consolas"/>
              </a:rPr>
              <a:t>↓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DBE4F0"/>
                </a:solidFill>
                <a:latin typeface="Consolas"/>
              </a:rPr>
              <a:t>SQLAlchemy 2 ORM  →  SQLite        RandomForest engine (joblib, loaded at startup)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43400"/>
            <a:ext cx="111858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Swappable model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the ML engine hides behind the service layer.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Typed contracts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REST JSON mirrors Pydantic schemas ↔ TypeScript interfaces.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Self-documenting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Swagger docs auto-generated at /docs.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Chosen for speed, safety, and clarity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1124712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846320"/>
                <a:gridCol w="48463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React 18 · TypeScript · Vite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Fast dev loop, type-safe contracts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Styling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Tailwind CSS v3 (CSS-variable tokens)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Dual-theme glassmorphism system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Animation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framer-motion v13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Production motion, reduced-motion aware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Charts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Recharts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Declarative, animated analytics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FastAPI · Pydantic v2 · Uvicorn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Async, auto-documented REST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ORM / DB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SQLAlchemy 2.0 (typed) + SQLite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Zero-config prototyping persistence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ML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scikit-learn RandomForest + joblib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Robust tabular baseline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38-check smoke test suite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DBE4F0"/>
                          </a:solidFill>
                          <a:latin typeface="Segoe UI"/>
                        </a:rPr>
                        <a:t>Every endpoint verified after changes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Two minutes a day, seven steps, zero friction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Register / Login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role-based accounts, validated signup.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Daily check-in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mood, sleep, fatigue, workload, satisfaction, duty hours, overtime, breaks.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Instant prediction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gauge shows risk level, score %, model confidence.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“Why this result?”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top factors with animated impact bars.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Support plan appears automatically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Mark as Done · Remind Me Later · View Support.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Follow-up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“Next check-in recommended: 7 days” + one-click reminder.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00" b="1" i="0">
                <a:solidFill>
                  <a:srgbClr val="F8FAFC"/>
                </a:solidFill>
                <a:latin typeface="Segoe UI"/>
              </a:rPr>
              <a:t>Recommendations history — </a:t>
            </a:r>
            <a:r>
              <a:rPr sz="1500" b="0" i="0">
                <a:solidFill>
                  <a:srgbClr val="DBE4F0"/>
                </a:solidFill>
                <a:latin typeface="Segoe UI"/>
              </a:rPr>
              <a:t>filterable by status, snooze-aware.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THE 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RandomForest — robust, probabilistic, explainable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Training data: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24,000 synthetically generated records — prototype-safe, no real personal data.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Inputs (9 features):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workload, fatigue, sleep quality, duty hours, overtime frequency, job satisfaction, rest-break quality, self-reported stress, recent workload change.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Risk score: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risk_score = P(Moderate) + P(High) from class probabilities.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Thresholds: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High ≥ 0.70 score (or p(High) ≥ 0.40) · Moderate ≥ 0.34 · Low otherwise.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Confidence: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0.60 + 0.37 × max class probability.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Validation: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Macro-F1 0.816 ± 0.005 across 5-fold cross-validation.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Also outputs: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ranked factor sensitivities + templated narrative + disclaimer.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208836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24k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6348" y="589788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9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74796" y="5897880"/>
            <a:ext cx="983894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4D399"/>
                </a:solidFill>
                <a:latin typeface="Segoe UI"/>
              </a:rPr>
              <a:t>F1 0.816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3282" y="5897880"/>
            <a:ext cx="1583740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FBBF24"/>
                </a:solidFill>
                <a:latin typeface="Segoe UI"/>
              </a:rPr>
              <a:t>&lt;50 ms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EXPLAINABLE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Every number on screen has a visible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Per-factor sensitivity analysis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each feature probed individually against a neutral baseline;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/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Impact normalized to %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with direction tags: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/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Narrative auto-generated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“Workload is currently elevating the welfare-risk indicator.”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UI surfaces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top-3 factors on the dashboard, full ranked list on the prediction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SUPPORT PLAN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(risk level × top factor) → concrete supportive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1124712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4663440"/>
                <a:gridCol w="237744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CONDITION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HEADLINE STEP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Risk High + top factor Workload family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“Review current workload”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('HIGH PRIORITY', 'rose')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Risk Moderate + top factor Fatigue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“Encourage adequate rest period”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('RECOMMENDED', 'amber')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Sleep quality low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Recovery time + sleep/wellness resources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('REC / OPT', 'amber')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Job satisfaction low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Confidential consultation + feedback channels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('REC / OPT', 'amber')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Risk Low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Continue regular wellbeing check-ins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DBE4F0"/>
                          </a:solidFill>
                          <a:latin typeface="Segoe UI"/>
                        </a:rPr>
                        <a:t>('OPTIONAL', 'green')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DEMO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The 60-second wow path for judges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Three scenario cards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Low / Moderate / High presets mapped exactly to the model contract.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Animated pipeline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~2.5 s visualization of five analysis steps ending in a completion burst.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Result reveal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zone-colored gauge arc, count-up score, confidence bar, shimmering factor bars.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Tiered action cards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the same support plan logic that real users receive.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Zero persistence —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>/ai/demo-predict runs the real model writing nothing to the database;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F8FAFC"/>
                </a:solidFill>
                <a:latin typeface="Segoe UI"/>
              </a:rPr>
              <a:t> </a:t>
            </a:r>
            <a:r>
              <a:rPr sz="1450" b="0" i="0">
                <a:solidFill>
                  <a:srgbClr val="DBE4F0"/>
                </a:solidFill>
                <a:latin typeface="Segoe U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230368"/>
            <a:ext cx="11185855" cy="566928"/>
          </a:xfrm>
          <a:prstGeom prst="roundRect">
            <a:avLst>
              <a:gd name="adj" fmla="val 18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/>
          <a:lstStyle/>
          <a:p>
            <a:pPr algn="ctr"/>
            <a:r>
              <a:rPr sz="1400" b="1" i="0">
                <a:solidFill>
                  <a:srgbClr val="34D399"/>
                </a:solidFill>
                <a:latin typeface="Segoe UI"/>
              </a:rPr>
              <a:t>Verified: latest-prediction timestamp unchanged after demo runs — judge clicks cannot pollute user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30368"/>
            <a:ext cx="40640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OFFICER &amp; ADMIN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The AI flags. A human decides. Everything is auditable.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10047" cy="3977639"/>
          </a:xfrm>
          <a:prstGeom prst="roundRect">
            <a:avLst>
              <a:gd name="adj" fmla="val 9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10047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01952"/>
            <a:ext cx="4897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8BDF8"/>
                </a:solidFill>
                <a:latin typeface="Segoe UI"/>
              </a:rPr>
              <a:t>WELFARE OFFICERS 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489798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Early Warning Center — severity-counted alerts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Review workflow: Confirm / No Action / Follow-up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Confirming auto-creates an Intervention,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assigns an officer, sets a due date, and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notifies the member — fully voluntary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Interventions pipeline to completion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Aggregated, anonymized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691640"/>
            <a:ext cx="5410047" cy="3977639"/>
          </a:xfrm>
          <a:prstGeom prst="roundRect">
            <a:avLst>
              <a:gd name="adj" fmla="val 9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8727" y="1691640"/>
            <a:ext cx="5410047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4759" y="1901952"/>
            <a:ext cx="489798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0A5FA"/>
                </a:solidFill>
                <a:latin typeface="Segoe UI"/>
              </a:rPr>
              <a:t>ADMINISTRATORS ADDITIONALLY 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2359152"/>
            <a:ext cx="489798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User management (create / deactivate / reset)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Broadcast notifications to everyone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Audit log with search — every sensitive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action recorded (who, what, when)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/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Human-in-the-loop is mandatory by design: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350" b="0" i="0">
                <a:solidFill>
                  <a:srgbClr val="DBE4F0"/>
                </a:solidFill>
                <a:latin typeface="Segoe UI"/>
              </a:rPr>
              <a:t>no automatic action ever targets a person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PRIVACY &amp;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We designed the system we’d want used on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Voluntary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participation optional; any recommendation can be dismissed or snoozed.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Consent controls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check-ins / optional feedback / notifications toggles.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Confidentiality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individual responses never shown to peers or managers; aggregates only.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Human review required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output is a supportive indicator, never automatic action against a person.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Supportive tone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“offer”, “encourage”, “optional” — never disciplinary framing.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Data ownership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one-click full personal-data export.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Disclaimers everywhere —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“not a medical diagnosis.”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✓  </a:t>
            </a:r>
            <a:r>
              <a:rPr sz="1400" b="1" i="0">
                <a:solidFill>
                  <a:srgbClr val="F8FAFC"/>
                </a:solidFill>
                <a:latin typeface="Segoe UI"/>
              </a:rPr>
              <a:t>Synthetic-only data </a:t>
            </a:r>
            <a:r>
              <a:rPr sz="1400" b="0" i="0">
                <a:solidFill>
                  <a:srgbClr val="DBE4F0"/>
                </a:solidFill>
                <a:latin typeface="Segoe UI"/>
              </a:rPr>
              <a:t>in the prototype — nothing real leaves the 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Glassmorphism craft, engineered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Glassmorphism UI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frosted panels, layered shadows, airy light theme + deep-navy command theme.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Token architecture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one set of CSS variables drives both themes; components written once.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Motion language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staggered reveals, count-ups, blur-to-sharp entrances, sliding nav pill, route crossfades.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Iconography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consistent Lucide set throughout.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Accessibility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respects OS reduced-motion; never color-only signaling.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8BDF8"/>
                </a:solidFill>
                <a:latin typeface="Segoe UI"/>
              </a:rPr>
              <a:t>Light + Dark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51329" y="5897880"/>
            <a:ext cx="1808683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4D399"/>
                </a:solidFill>
                <a:latin typeface="Segoe UI"/>
              </a:rPr>
              <a:t>Reduced-motion 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4604" y="5897880"/>
            <a:ext cx="1658721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FBBF24"/>
                </a:solidFill>
                <a:latin typeface="Segoe UI"/>
              </a:rPr>
              <a:t>Mobile responsive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7917" y="5897880"/>
            <a:ext cx="1283817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60A5FA"/>
                </a:solidFill>
                <a:latin typeface="Segoe UI"/>
              </a:rPr>
              <a:t>Lucide icons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ENGINEERING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Prototype speed without prototype shortcuts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Typed end-to-end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Pydantic schemas ↔ TypeScript interfaces mirror each other.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38-check smoke suite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auth → check-in → prediction → recommendations → alerts → interventions → admin; self-resetting.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Safe schema evolution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startup migrations add columns without data loss.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Rule-engine verification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all four canonical scenarios validated.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Idempotent endpoints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reminders, notification reads, alert reviews.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IMPACT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Where this helps on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11185855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Who benefits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defense/uniformed services, healthcare, call centers, any shift-based workforce.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Early detection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support arrives weeks earlier than annual surveys allow.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Normalized conversations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daily check-ins make wellbeing routine, not exceptional.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Officer efficiency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triage focuses on genuinely flagged cases, context attached.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50" b="1" i="0">
                <a:solidFill>
                  <a:srgbClr val="38BDF8"/>
                </a:solidFill>
                <a:latin typeface="Segoe UI"/>
              </a:rPr>
              <a:t>▸  </a:t>
            </a:r>
            <a:r>
              <a:rPr sz="1550" b="1" i="0">
                <a:solidFill>
                  <a:srgbClr val="F8FAFC"/>
                </a:solidFill>
                <a:latin typeface="Segoe UI"/>
              </a:rPr>
              <a:t>Responsible-AI template — </a:t>
            </a:r>
            <a:r>
              <a:rPr sz="1550" b="0" i="0">
                <a:solidFill>
                  <a:srgbClr val="DBE4F0"/>
                </a:solidFill>
                <a:latin typeface="Segoe UI"/>
              </a:rPr>
              <a:t>explainability + human oversight + confidentiality working together.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From prototype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11247120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978408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HORIZON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('NEXT', 'sky')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Time-series trend forecasting; unit-level heatmaps over time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('NEXT', 'sky')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Multilingual check-ins; progressive web app (mobile-first)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('LATER', 'amber')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Rostering / HR integrations feeding fatigue context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('LATER', 'amber')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Privacy-preserving aggregate benchmarking across units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('LATER', 'amber')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DBE4F0"/>
                          </a:solidFill>
                          <a:latin typeface="Segoe UI"/>
                        </a:rPr>
                        <a:t>Model upgrades: gradient boosting, calibration, fairness audits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971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1">
                <a:solidFill>
                  <a:srgbClr val="F8FAFC"/>
                </a:solidFill>
                <a:latin typeface="Segoe UI"/>
              </a:rPr>
              <a:t>“Most systems detect risk and stop there.</a:t>
            </a:r>
          </a:p>
          <a:p>
            <a:pPr algn="ctr">
              <a:lnSpc>
                <a:spcPct val="125000"/>
              </a:lnSpc>
            </a:pPr>
            <a:r>
              <a:rPr sz="2600" b="1" i="1">
                <a:solidFill>
                  <a:srgbClr val="F8FAFC"/>
                </a:solidFill>
                <a:latin typeface="Segoe UI"/>
              </a:rPr>
              <a:t>PersonnelAI detects risk </a:t>
            </a:r>
            <a:r>
              <a:rPr sz="2600" b="1" i="1">
                <a:solidFill>
                  <a:srgbClr val="38BDF8"/>
                </a:solidFill>
                <a:latin typeface="Segoe UI"/>
              </a:rPr>
              <a:t>and helps the person take a supportive next step</a:t>
            </a:r>
            <a:r>
              <a:rPr sz="2600" b="1" i="1">
                <a:solidFill>
                  <a:srgbClr val="F8FAFC"/>
                </a:solidFill>
                <a:latin typeface="Segoe UI"/>
              </a:rPr>
              <a:t> — explained, voluntary, and confidential.”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592927" y="4069080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3A4BC"/>
                </a:solidFill>
                <a:latin typeface="Segoe UI"/>
              </a:rPr>
              <a:t>LIVE DEMO — Login → Dashboard → Try Demo → all three scenarios (≈90 seconds)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29888" y="5486400"/>
            <a:ext cx="1958644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34D399"/>
                </a:solidFill>
                <a:latin typeface="Segoe UI"/>
              </a:rPr>
              <a:t>WELFARE-01 / demo1234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3124" y="5486400"/>
            <a:ext cx="1808683" cy="384048"/>
          </a:xfrm>
          <a:prstGeom prst="roundRect">
            <a:avLst>
              <a:gd name="adj" fmla="val 50000"/>
            </a:avLst>
          </a:prstGeom>
          <a:solidFill>
            <a:srgbClr val="121C30"/>
          </a:solidFill>
          <a:ln w="9525">
            <a:solidFill>
              <a:srgbClr val="23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200" b="1" i="0">
                <a:solidFill>
                  <a:srgbClr val="FBBF24"/>
                </a:solidFill>
                <a:latin typeface="Segoe UI"/>
              </a:rPr>
              <a:t>ADMIN-01 / demo1234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 i="0">
                <a:solidFill>
                  <a:srgbClr val="F8FAFC"/>
                </a:solidFill>
                <a:latin typeface="Segoe UI"/>
              </a:rPr>
              <a:t>Q&amp;A quick-reference 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8229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85855" cy="12700"/>
          </a:xfrm>
          <a:prstGeom prst="rect">
            <a:avLst/>
          </a:prstGeom>
          <a:solidFill>
            <a:srgbClr val="23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37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5B6B85"/>
                </a:solidFill>
                <a:latin typeface="Segoe UI"/>
              </a:rPr>
              <a:t>P E R S O N N E L A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437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5B6B85"/>
                </a:solidFill>
                <a:latin typeface="Segoe UI"/>
              </a:rP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1124712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822960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QUESTION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38BDF8"/>
                          </a:solidFill>
                          <a:latin typeface="Segoe UI"/>
                        </a:rPr>
                        <a:t>ANSWER</a:t>
                      </a:r>
                    </a:p>
                  </a:txBody>
                  <a:tcPr anchor="ctr" marL="109728" marR="73152" marT="18288" marB="18288">
                    <a:solidFill>
                      <a:srgbClr val="121C3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Model accuracy?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Macro-F1 = 0.816 ± 0.005 (5-fold CV on 24k synthetic records)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Does demo pollute data?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No — /ai/demo-predict persists nothing; verified by timestamps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What if user skips days?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Follow-up anchors to last check-in; nudge fires around day 7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Can officers see individuals?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Only via alert-review with explicit confirmation; dashboards aggregate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Is it diagnosis?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No — explicitly disclaimed; supportive indicator only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Scale?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SQLite prototype; swaps to Postgres via SQLAlchemy URL change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Snooze behavior?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“Remind Me Later” snoozes 2 days, then re-surfaces</a:t>
                      </a:r>
                    </a:p>
                  </a:txBody>
                  <a:tcPr anchor="ctr" marL="109728" marR="73152" marT="18288" marB="18288">
                    <a:solidFill>
                      <a:srgbClr val="0E172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Numbers to memorize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DBE4F0"/>
                          </a:solidFill>
                          <a:latin typeface="Segoe UI"/>
                        </a:rPr>
                        <a:t>24k records · 9 features · F1 0.816 · &lt;2 min check-in · 7-day cadence</a:t>
                      </a:r>
                    </a:p>
                  </a:txBody>
                  <a:tcPr anchor="ctr" marL="109728" marR="73152" marT="18288" marB="18288">
                    <a:solidFill>
                      <a:srgbClr val="1019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PersonnelAI — Pitch Deck</dc:title>
  <dc:subject/>
  <dc:creator>Team PersonnelAI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